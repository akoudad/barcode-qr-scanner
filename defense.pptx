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0"/>
            <a:ext cx="8595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spc="200" kern="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BARCODE &amp; QR CODE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365760" y="1828800"/>
            <a:ext cx="8595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spc="200" kern="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SCANNER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65760" y="274320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3  ·  Detection · Localization · Decoding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320040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Akoudad Karim  ·  126406  ·  UIR  ·  Spring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486460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UIR · Intro to Computer Vision · Spring 2026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57200" y="256032"/>
            <a:ext cx="54864" cy="329184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03504" y="228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— 7 Steps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20040" y="1737360"/>
            <a:ext cx="1097280" cy="502920"/>
          </a:xfrm>
          <a:prstGeom prst="rect">
            <a:avLst/>
          </a:prstGeom>
          <a:solidFill>
            <a:srgbClr val="0A2A1A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773936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E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74904" y="1956816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Grayscale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417320" y="1988820"/>
            <a:ext cx="91440" cy="0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2295144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Lec 2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1508760" y="1737360"/>
            <a:ext cx="1097280" cy="502920"/>
          </a:xfrm>
          <a:prstGeom prst="rect">
            <a:avLst/>
          </a:prstGeom>
          <a:solidFill>
            <a:srgbClr val="0A2A1A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554480" y="1773936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E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563624" y="1956816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Gaussian Blur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606040" y="1988820"/>
            <a:ext cx="91440" cy="0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508760" y="2295144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Lec 2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2697480" y="1737360"/>
            <a:ext cx="1097280" cy="502920"/>
          </a:xfrm>
          <a:prstGeom prst="rect">
            <a:avLst/>
          </a:prstGeom>
          <a:solidFill>
            <a:srgbClr val="0A1A2A"/>
          </a:solidFill>
          <a:ln w="12700">
            <a:solidFill>
              <a:srgbClr val="0099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0" y="1773936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9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752344" y="1956816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Morph. Gradient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794760" y="1988820"/>
            <a:ext cx="91440" cy="0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697480" y="2295144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Lec 4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3886200" y="1737360"/>
            <a:ext cx="1097280" cy="502920"/>
          </a:xfrm>
          <a:prstGeom prst="rect">
            <a:avLst/>
          </a:prstGeom>
          <a:solidFill>
            <a:srgbClr val="0A1A2A"/>
          </a:solidFill>
          <a:ln w="12700">
            <a:solidFill>
              <a:srgbClr val="0099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931920" y="1773936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9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941064" y="1956816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Otsu Threshold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983480" y="1988820"/>
            <a:ext cx="91440" cy="0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886200" y="2295144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Lec 4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5074920" y="1737360"/>
            <a:ext cx="1097280" cy="502920"/>
          </a:xfrm>
          <a:prstGeom prst="rect">
            <a:avLst/>
          </a:prstGeom>
          <a:solidFill>
            <a:srgbClr val="0A1A2A"/>
          </a:solidFill>
          <a:ln w="12700">
            <a:solidFill>
              <a:srgbClr val="0099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20640" y="1773936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9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129784" y="1956816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Morph. Close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6172200" y="1988820"/>
            <a:ext cx="91440" cy="0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74920" y="2295144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Lec 4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6263640" y="1737360"/>
            <a:ext cx="1097280" cy="502920"/>
          </a:xfrm>
          <a:prstGeom prst="rect">
            <a:avLst/>
          </a:prstGeom>
          <a:solidFill>
            <a:srgbClr val="1A0A2A"/>
          </a:solidFill>
          <a:ln w="12700">
            <a:solidFill>
              <a:srgbClr val="AA44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09360" y="1773936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A4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318504" y="1956816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Contour Analysis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7360920" y="1988820"/>
            <a:ext cx="91440" cy="0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263640" y="2295144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Lec 9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7452360" y="1737360"/>
            <a:ext cx="1097280" cy="502920"/>
          </a:xfrm>
          <a:prstGeom prst="rect">
            <a:avLst/>
          </a:prstGeom>
          <a:solidFill>
            <a:srgbClr val="2A1A0A"/>
          </a:solidFill>
          <a:ln w="12700">
            <a:solidFill>
              <a:srgbClr val="FFAA0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498080" y="1773936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A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7507224" y="1956816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7452360" y="2295144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Lec 2/4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457200" y="3017520"/>
            <a:ext cx="137160" cy="137160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40080" y="2990088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Filtering (Lec 2)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2606040" y="3017520"/>
            <a:ext cx="137160" cy="137160"/>
          </a:xfrm>
          <a:prstGeom prst="rect">
            <a:avLst/>
          </a:prstGeom>
          <a:solidFill>
            <a:srgbClr val="0099FF"/>
          </a:solidFill>
          <a:ln w="12700">
            <a:solidFill>
              <a:srgbClr val="0099F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788920" y="2990088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Non-Linear / Morph. (Lec 4)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4754880" y="3017520"/>
            <a:ext cx="137160" cy="137160"/>
          </a:xfrm>
          <a:prstGeom prst="rect">
            <a:avLst/>
          </a:prstGeom>
          <a:solidFill>
            <a:srgbClr val="AA44FF"/>
          </a:solidFill>
          <a:ln w="12700">
            <a:solidFill>
              <a:srgbClr val="AA44F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937760" y="2990088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Boundary Detection (Lec 9)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6903720" y="3017520"/>
            <a:ext cx="137160" cy="137160"/>
          </a:xfrm>
          <a:prstGeom prst="rect">
            <a:avLst/>
          </a:prstGeom>
          <a:solidFill>
            <a:srgbClr val="FFAA00"/>
          </a:solidFill>
          <a:ln w="12700">
            <a:solidFill>
              <a:srgbClr val="FFAA0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086600" y="2990088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Decoding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0" y="4434840"/>
            <a:ext cx="9144000" cy="685800"/>
          </a:xfrm>
          <a:prstGeom prst="rect">
            <a:avLst/>
          </a:prstGeom>
          <a:solidFill>
            <a:srgbClr val="111111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74320" y="4480560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SAY: The full pipeline: image in, annotated detections out. 7 steps, all classical CV — no neural networks.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486460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UIR · Intro to Computer Vision · Spring 2026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57200" y="256032"/>
            <a:ext cx="54864" cy="329184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03504" y="228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1–2  ·  Lecture 2: Linear Filtering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Grayscale + Gaussian Blur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2984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— denoise before edge detection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45720" cy="457200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709928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Grayscale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1911096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BGR tensor → single channel. Color is irrelevant for bar detection.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57200" y="2350008"/>
            <a:ext cx="45720" cy="457200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368296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Gaussian Blur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2569464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Convolve with 5×5 Gaussian kernel. Suppresses noise before gradient ops.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57200" y="3008376"/>
            <a:ext cx="45720" cy="457200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3026664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blur first?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0080" y="3227832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Derivatives amplify noise. Blur first = cleaner edges downstream.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937760" y="1645920"/>
            <a:ext cx="3749040" cy="1737360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47488" y="1719072"/>
            <a:ext cx="3529584" cy="15910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00E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to_gray(img):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E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cv2.cvtColor(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E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img, cv2.COLOR_BGR2GRAY)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E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gaussian_blur(gray, ksize=5):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E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cv2.GaussianBlur(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E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gray, (ksize, ksize), 0)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937760" y="342900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screenshot: cells gray + blurred side by side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0" y="4434840"/>
            <a:ext cx="9144000" cy="685800"/>
          </a:xfrm>
          <a:prstGeom prst="rect">
            <a:avLst/>
          </a:prstGeom>
          <a:solidFill>
            <a:srgbClr val="111111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4480560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SAY: First two steps are pure linear filtering from lecture 2. Gaussian blur is convolution — same math as the course.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486460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UIR · Intro to Computer Vision · Spring 2026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57200" y="256032"/>
            <a:ext cx="54864" cy="329184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03504" y="228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3–5  ·  Lecture 4: Non-Linear Filtering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Morphological Pipeline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2984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→ Threshold → Close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600200"/>
            <a:ext cx="2743200" cy="2194560"/>
          </a:xfrm>
          <a:prstGeom prst="rect">
            <a:avLst/>
          </a:prstGeom>
          <a:solidFill>
            <a:srgbClr val="0D1A26"/>
          </a:solidFill>
          <a:ln w="12700">
            <a:solidFill>
              <a:srgbClr val="0099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" y="1691640"/>
            <a:ext cx="25237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9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— Morph. Gradient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1993392"/>
            <a:ext cx="2560320" cy="274320"/>
          </a:xfrm>
          <a:prstGeom prst="rect">
            <a:avLst/>
          </a:prstGeom>
          <a:solidFill>
            <a:srgbClr val="0A1020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011680"/>
            <a:ext cx="2468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E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dilate(I,K) − erode(I,K)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75488" y="2331720"/>
            <a:ext cx="25237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Edge-like response. 9×3 kernel → emphasizes vertical bar transitions.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2834640"/>
            <a:ext cx="2560320" cy="256032"/>
          </a:xfrm>
          <a:prstGeom prst="rect">
            <a:avLst/>
          </a:prstGeom>
          <a:solidFill>
            <a:srgbClr val="0A1A0A"/>
          </a:solidFill>
          <a:ln w="12700">
            <a:solidFill>
              <a:srgbClr val="1A3A1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852928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0E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morphological_gradient(blurred)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475488" y="3136392"/>
            <a:ext cx="252374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screenshot: step result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3246120" y="1600200"/>
            <a:ext cx="2743200" cy="2194560"/>
          </a:xfrm>
          <a:prstGeom prst="rect">
            <a:avLst/>
          </a:prstGeom>
          <a:solidFill>
            <a:srgbClr val="0D1A26"/>
          </a:solidFill>
          <a:ln w="12700">
            <a:solidFill>
              <a:srgbClr val="0099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55848" y="1691640"/>
            <a:ext cx="25237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9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— Otsu Threshold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337560" y="1993392"/>
            <a:ext cx="2560320" cy="274320"/>
          </a:xfrm>
          <a:prstGeom prst="rect">
            <a:avLst/>
          </a:prstGeom>
          <a:solidFill>
            <a:srgbClr val="0A1020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83280" y="2011680"/>
            <a:ext cx="2468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E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minimize intra-class variance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3355848" y="2331720"/>
            <a:ext cx="25237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Auto-selects optimal threshold. No manual tuning needed.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337560" y="2834640"/>
            <a:ext cx="2560320" cy="256032"/>
          </a:xfrm>
          <a:prstGeom prst="rect">
            <a:avLst/>
          </a:prstGeom>
          <a:solidFill>
            <a:srgbClr val="0A1A0A"/>
          </a:solidFill>
          <a:ln w="12700">
            <a:solidFill>
              <a:srgbClr val="1A3A1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83280" y="2852928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0E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otsu_threshold(gradient)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3355848" y="3136392"/>
            <a:ext cx="252374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screenshot: step result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6126480" y="1600200"/>
            <a:ext cx="2743200" cy="2194560"/>
          </a:xfrm>
          <a:prstGeom prst="rect">
            <a:avLst/>
          </a:prstGeom>
          <a:solidFill>
            <a:srgbClr val="0D1A26"/>
          </a:solidFill>
          <a:ln w="12700">
            <a:solidFill>
              <a:srgbClr val="0099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36208" y="1691640"/>
            <a:ext cx="25237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9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— Morph. Close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217920" y="1993392"/>
            <a:ext cx="2560320" cy="274320"/>
          </a:xfrm>
          <a:prstGeom prst="rect">
            <a:avLst/>
          </a:prstGeom>
          <a:solidFill>
            <a:srgbClr val="0A1020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63640" y="2011680"/>
            <a:ext cx="2468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E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erode(dilate(I,K), K)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6236208" y="2331720"/>
            <a:ext cx="25237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21×7 kernel bridges gaps between bars → solid blob per code.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217920" y="2834640"/>
            <a:ext cx="2560320" cy="256032"/>
          </a:xfrm>
          <a:prstGeom prst="rect">
            <a:avLst/>
          </a:prstGeom>
          <a:solidFill>
            <a:srgbClr val="0A1A0A"/>
          </a:solidFill>
          <a:ln w="12700">
            <a:solidFill>
              <a:srgbClr val="1A3A1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63640" y="2852928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0E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morphological_close(binary)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6236208" y="3136392"/>
            <a:ext cx="252374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screenshot: step result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0" y="4434840"/>
            <a:ext cx="9144000" cy="685800"/>
          </a:xfrm>
          <a:prstGeom prst="rect">
            <a:avLst/>
          </a:prstGeom>
          <a:solidFill>
            <a:srgbClr val="111111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74320" y="4480560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SAY: Three non-linear ops from lecture 4. The close is the key — it merges all barcode bars into one solid blob.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486460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UIR · Intro to Computer Vision · Spring 2026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57200" y="256032"/>
            <a:ext cx="54864" cy="329184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03504" y="228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6  ·  Lecture 9: Boundary Detection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Contour Analysis — Localization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2984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candidate barcode regions from binary mask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201168" cy="201168"/>
          </a:xfrm>
          <a:prstGeom prst="rect">
            <a:avLst/>
          </a:prstGeom>
          <a:solidFill>
            <a:srgbClr val="1A0A2A"/>
          </a:solidFill>
          <a:ln w="12700">
            <a:solidFill>
              <a:srgbClr val="AA44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691640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A4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49808" y="1709928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cv2.findContours on binary mask → list of contours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167128"/>
            <a:ext cx="201168" cy="201168"/>
          </a:xfrm>
          <a:prstGeom prst="rect">
            <a:avLst/>
          </a:prstGeom>
          <a:solidFill>
            <a:srgbClr val="1A0A2A"/>
          </a:solidFill>
          <a:ln w="12700">
            <a:solidFill>
              <a:srgbClr val="AA44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167128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A4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49808" y="2185416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by area ≥ 1500 px²  (removes noise blobs)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2642616"/>
            <a:ext cx="201168" cy="201168"/>
          </a:xfrm>
          <a:prstGeom prst="rect">
            <a:avLst/>
          </a:prstGeom>
          <a:solidFill>
            <a:srgbClr val="1A0A2A"/>
          </a:solidFill>
          <a:ln w="12700">
            <a:solidFill>
              <a:srgbClr val="AA44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642616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A4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49808" y="2660904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cv2.boundingRect → (x, y, w, h) per candidate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3118104"/>
            <a:ext cx="201168" cy="201168"/>
          </a:xfrm>
          <a:prstGeom prst="rect">
            <a:avLst/>
          </a:prstGeom>
          <a:solidFill>
            <a:srgbClr val="1A0A2A"/>
          </a:solidFill>
          <a:ln w="12700">
            <a:solidFill>
              <a:srgbClr val="AA44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118104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A4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49808" y="3136392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 bounding boxes on original image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937760" y="1600200"/>
            <a:ext cx="3749040" cy="2194560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47488" y="1673352"/>
            <a:ext cx="3529584" cy="20482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00E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find_candidate_regions(mask,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E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min_area=1500):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E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contours, _ = cv2.findContours(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E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mask,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E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cv2.RETR_EXTERNAL,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E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cv2.CHAIN_APPROX_SIMPLE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E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E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regions = []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E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c in contours: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E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cv2.contourArea(c) &gt;= min_area: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E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regions.append(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E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cv2.boundingRect(c))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E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regions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937760" y="384048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screenshot: closed mask + bounding boxes on image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0" y="4434840"/>
            <a:ext cx="9144000" cy="685800"/>
          </a:xfrm>
          <a:prstGeom prst="rect">
            <a:avLst/>
          </a:prstGeom>
          <a:solidFill>
            <a:srgbClr val="111111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4480560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SAY: Lecture 9 — boundary detection. After morphological close, each code is a solid blob. We just extract its bounding box.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486460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UIR · Intro to Computer Vision · Spring 2026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57200" y="256032"/>
            <a:ext cx="54864" cy="329184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03504" y="228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7  ·  Multi-Variant Decoding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Decoding — 5 Variants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2984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pyzbar on multiple preprocessed versions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645920"/>
            <a:ext cx="1600200" cy="777240"/>
          </a:xfrm>
          <a:prstGeom prst="rect">
            <a:avLst/>
          </a:prstGeom>
          <a:solidFill>
            <a:srgbClr val="11111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8912" y="1700784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9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1938528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BGR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2286000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2066544" y="1645920"/>
            <a:ext cx="1600200" cy="777240"/>
          </a:xfrm>
          <a:prstGeom prst="rect">
            <a:avLst/>
          </a:prstGeom>
          <a:solidFill>
            <a:srgbClr val="11111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139696" y="1700784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9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157984" y="1938528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Grayscale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157984" y="2286000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Lec 2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3767328" y="1645920"/>
            <a:ext cx="1600200" cy="777240"/>
          </a:xfrm>
          <a:prstGeom prst="rect">
            <a:avLst/>
          </a:prstGeom>
          <a:solidFill>
            <a:srgbClr val="11111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40480" y="1700784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9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858768" y="1938528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Threshold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858768" y="2286000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Lec 4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5468112" y="1645920"/>
            <a:ext cx="1600200" cy="777240"/>
          </a:xfrm>
          <a:prstGeom prst="rect">
            <a:avLst/>
          </a:prstGeom>
          <a:solidFill>
            <a:srgbClr val="11111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541264" y="1700784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9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559552" y="1938528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Inverted Adaptive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559552" y="2286000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Lec 4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7168896" y="1645920"/>
            <a:ext cx="1600200" cy="777240"/>
          </a:xfrm>
          <a:prstGeom prst="rect">
            <a:avLst/>
          </a:prstGeom>
          <a:solidFill>
            <a:srgbClr val="11111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242048" y="1700784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9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260336" y="1938528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Sharpened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260336" y="2286000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Lec 2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457200" y="26060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Sharpening kernel (Lec 2 — linear convolution):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57200" y="2852928"/>
            <a:ext cx="3657600" cy="1005840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" y="2926080"/>
            <a:ext cx="3438144" cy="859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00E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 = [[0,-1, 0],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E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[-1, 5,-1],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E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[0,-1, 0]]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E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sharpened = cv2.filter2D(gray, -1, K)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572000" y="2606040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5 variants? Real-world images have glare, shadows,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contrast — one preprocessing rarely decodes all cases.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572000" y="333756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deduplicated by (data, type) pair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0" y="4434840"/>
            <a:ext cx="9144000" cy="685800"/>
          </a:xfrm>
          <a:prstGeom prst="rect">
            <a:avLst/>
          </a:prstGeom>
          <a:solidFill>
            <a:srgbClr val="111111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74320" y="4480560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SAY: pyzbar wraps zbar, handles QR + EAN + Code128 etc. We run it 5 times with different preprocessing to maximize decode rate.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486460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UIR · Intro to Computer Vision · Spring 2026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57200" y="256032"/>
            <a:ext cx="54864" cy="329184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03504" y="228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Results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2984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test images — all decoded correctly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600200"/>
            <a:ext cx="2651760" cy="2286000"/>
          </a:xfrm>
          <a:prstGeom prst="rect">
            <a:avLst/>
          </a:prstGeom>
          <a:solidFill>
            <a:srgbClr val="111111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1737360"/>
            <a:ext cx="2377440" cy="1097280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737360"/>
            <a:ext cx="2377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screenshot:</a:t>
            </a:r>
            <a:endParaRPr lang="en-US" sz="800" dirty="0"/>
          </a:p>
          <a:p>
            <a:pPr algn="ctr" indent="0" marL="0">
              <a:buNone/>
            </a:pPr>
            <a:r>
              <a:rPr lang="en-US" sz="80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qr_test.png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48640" y="288036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E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QRCODE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3127248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https://uir.ac.ma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48640" y="3401568"/>
            <a:ext cx="2468880" cy="256032"/>
          </a:xfrm>
          <a:prstGeom prst="rect">
            <a:avLst/>
          </a:prstGeom>
          <a:solidFill>
            <a:srgbClr val="0A1A0A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419856"/>
            <a:ext cx="2468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Decoded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291840" y="1600200"/>
            <a:ext cx="2651760" cy="2286000"/>
          </a:xfrm>
          <a:prstGeom prst="rect">
            <a:avLst/>
          </a:prstGeom>
          <a:solidFill>
            <a:srgbClr val="111111"/>
          </a:solidFill>
          <a:ln w="12700">
            <a:solidFill>
              <a:srgbClr val="0099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429000" y="1737360"/>
            <a:ext cx="2377440" cy="1097280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29000" y="1737360"/>
            <a:ext cx="2377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screenshot:</a:t>
            </a:r>
            <a:endParaRPr lang="en-US" sz="800" dirty="0"/>
          </a:p>
          <a:p>
            <a:pPr algn="ctr" indent="0" marL="0">
              <a:buNone/>
            </a:pPr>
            <a:r>
              <a:rPr lang="en-US" sz="80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barcode_test.png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3383280" y="288036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9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EAN13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383280" y="3127248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5901234123457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383280" y="3401568"/>
            <a:ext cx="2468880" cy="256032"/>
          </a:xfrm>
          <a:prstGeom prst="rect">
            <a:avLst/>
          </a:prstGeom>
          <a:solidFill>
            <a:srgbClr val="0A1A0A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83280" y="3419856"/>
            <a:ext cx="2468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Decoded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126480" y="1600200"/>
            <a:ext cx="2651760" cy="2286000"/>
          </a:xfrm>
          <a:prstGeom prst="rect">
            <a:avLst/>
          </a:prstGeom>
          <a:solidFill>
            <a:srgbClr val="111111"/>
          </a:solidFill>
          <a:ln w="12700">
            <a:solidFill>
              <a:srgbClr val="FFAA0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263640" y="1737360"/>
            <a:ext cx="2377440" cy="1097280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63640" y="1737360"/>
            <a:ext cx="2377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screenshot:</a:t>
            </a:r>
            <a:endParaRPr lang="en-US" sz="800" dirty="0"/>
          </a:p>
          <a:p>
            <a:pPr algn="ctr" indent="0" marL="0">
              <a:buNone/>
            </a:pPr>
            <a:r>
              <a:rPr lang="en-US" sz="80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combined_test.png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6217920" y="288036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A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BOTH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217920" y="3127248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QR + Barcode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217920" y="3401568"/>
            <a:ext cx="2468880" cy="256032"/>
          </a:xfrm>
          <a:prstGeom prst="rect">
            <a:avLst/>
          </a:prstGeom>
          <a:solidFill>
            <a:srgbClr val="0A1A0A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17920" y="3419856"/>
            <a:ext cx="2468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Decoded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0" y="4434840"/>
            <a:ext cx="9144000" cy="685800"/>
          </a:xfrm>
          <a:prstGeom prst="rect">
            <a:avLst/>
          </a:prstGeom>
          <a:solidFill>
            <a:srgbClr val="111111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74320" y="4480560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SAY: 100% on synthetic images. Multi-variant decoding handles real-world photos too — we'll demo that now.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50505"/>
          </a:solidFill>
          <a:ln w="12700">
            <a:solidFill>
              <a:srgbClr val="05050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spc="800" kern="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457200" y="2468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colab.research.google.com  →  Run all  →  Upload image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3108960"/>
            <a:ext cx="1828800" cy="548640"/>
          </a:xfrm>
          <a:prstGeom prst="rect">
            <a:avLst/>
          </a:prstGeom>
          <a:solidFill>
            <a:srgbClr val="0A1A0A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" y="3163824"/>
            <a:ext cx="168249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Runtime → Run all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697480" y="3108960"/>
            <a:ext cx="1828800" cy="548640"/>
          </a:xfrm>
          <a:prstGeom prst="rect">
            <a:avLst/>
          </a:prstGeom>
          <a:solidFill>
            <a:srgbClr val="0A1A0A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70632" y="3163824"/>
            <a:ext cx="168249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Scroll to cell 10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663440" y="3108960"/>
            <a:ext cx="1828800" cy="548640"/>
          </a:xfrm>
          <a:prstGeom prst="rect">
            <a:avLst/>
          </a:prstGeom>
          <a:solidFill>
            <a:srgbClr val="0A1A0A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36592" y="3163824"/>
            <a:ext cx="168249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Upload a barcode/QR image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629400" y="3108960"/>
            <a:ext cx="1828800" cy="548640"/>
          </a:xfrm>
          <a:prstGeom prst="rect">
            <a:avLst/>
          </a:prstGeom>
          <a:solidFill>
            <a:srgbClr val="0A1A0A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702552" y="3163824"/>
            <a:ext cx="168249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Click Scan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Barcode &amp; QR Code Scanner</dc:title>
  <dc:subject>PptxGenJS Presentation</dc:subject>
  <dc:creator>PptxGenJS</dc:creator>
  <cp:lastModifiedBy>PptxGenJS</cp:lastModifiedBy>
  <cp:revision>1</cp:revision>
  <dcterms:created xsi:type="dcterms:W3CDTF">2026-04-21T22:43:39Z</dcterms:created>
  <dcterms:modified xsi:type="dcterms:W3CDTF">2026-04-21T22:43:39Z</dcterms:modified>
</cp:coreProperties>
</file>